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4552" cy="457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F3864"/>
                </a:solidFill>
              </a:rPr>
              <a:t>Predicting Game Success on the Steam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E6E6E"/>
                </a:solidFill>
              </a:rPr>
              <a:t>Multiclass Classification of Steam Game Reception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</a:rPr>
              <a:t>Team 9 – Brewed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E6E6E"/>
                </a:solidFill>
              </a:rPr>
              <a:t>Satwik Kumar Lohani  ·  Arpitha Shivaprasad Kori  ·  Zubair Ashfaq  ·  Beyza Ünlü  ·  Muhammad Sameer Siddiqui  ·  Esha Raheel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6E6E"/>
                </a:solidFill>
              </a:rPr>
              <a:t>IE500 Data Mining  |  University of Mannheim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Why is predicting Steam game reception difficult?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>
                <a:solidFill>
                  <a:srgbClr val="1E1E1E"/>
                </a:solidFill>
              </a:rPr>
              <a:t>•  Steam hosts 50,000+ active titles — developers need early signals of reception before release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1E1E1E"/>
                </a:solidFill>
              </a:rPr>
              <a:t>•  Task: predict Good / Mixed / Bad reception using only pre-release metadata</a:t>
            </a:r>
          </a:p>
          <a:p>
            <a:pPr>
              <a:spcAft>
                <a:spcPts val="150"/>
              </a:spcAft>
            </a:pPr>
            <a:r>
              <a:rPr sz="1600">
                <a:solidFill>
                  <a:srgbClr val="6E6E6E"/>
                </a:solidFill>
              </a:rPr>
              <a:t>–  Good: review ratio ≥ 0.75   |   Mixed: 0.50 – 0.74   |   Bad: &lt; 0.50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1E1E1E"/>
                </a:solidFill>
              </a:rPr>
              <a:t>•  Primary metric: Macro F1 — penalises poor minority-class performance equally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1E1E1E"/>
                </a:solidFill>
              </a:rPr>
              <a:t>•  Key challenge: 3 imbalanced classes (Good 63 %, Mixed 28 %, Bad 8 %)</a:t>
            </a:r>
          </a:p>
          <a:p>
            <a:pPr>
              <a:spcAft>
                <a:spcPts val="150"/>
              </a:spcAft>
            </a:pPr>
            <a:r>
              <a:rPr sz="1600">
                <a:solidFill>
                  <a:srgbClr val="6E6E6E"/>
                </a:solidFill>
              </a:rPr>
              <a:t>–  Good and Mixed games share nearly identical metadata; only review ratio differs</a:t>
            </a:r>
          </a:p>
          <a:p>
            <a:pPr>
              <a:spcAft>
                <a:spcPts val="150"/>
              </a:spcAft>
            </a:pPr>
            <a:r>
              <a:rPr sz="1600">
                <a:solidFill>
                  <a:srgbClr val="6E6E6E"/>
                </a:solidFill>
              </a:rPr>
              <a:t>–  Current features cannot encode execution quality, post-launch patches, or community sentiment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1E1E1E"/>
                </a:solidFill>
              </a:rPr>
              <a:t>•  Leakage constraint: must exclude post-release signals (playtime, Metacritic, Recommendations)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Target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Steam Games Dataset — Kaggle (FronkonGames,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3/12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Raw CSV: 122,611 rows × 39 columns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6E6E6E"/>
                </a:solidFill>
              </a:rPr>
              <a:t>–  Price, genres, tags, categories, platform flags, achievements, DLC count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Review-stability filter: keep games with ≥ 10 total reviews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6E6E6E"/>
                </a:solidFill>
              </a:rPr>
              <a:t>–  56,655 rows retained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Stratified 80 / 20 train–test split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6E6E6E"/>
                </a:solidFill>
              </a:rPr>
              <a:t>–  Train: 45,324 games  |  Test: 11,331 games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Safe feature set: 147 columns (no post-release leakage)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3840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Class Distribution (Train)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65960"/>
            <a:ext cx="5212080" cy="74980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ratio ≥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28,671  (63.3 %)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788920"/>
            <a:ext cx="5212080" cy="74980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</a:rPr>
              <a:t>Mixed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0.50 – 0.74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12,834  (28.3 %)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611880"/>
            <a:ext cx="5212080" cy="74980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</a:rPr>
              <a:t>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</a:rPr>
              <a:t>ratio &lt; 0.50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 3,819  (8.4 %)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9 steps applied identically to train and test splits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4/12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Duplicate &amp; validity checks — exact duplicates removed; negative prices/counts corrected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Row-alignment fix — misaligned CSV rows corrected before any downstream processing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Numeric conversion — price, positive/negative review counts, achievements cast to float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Weak-column removal — AppIDs, URLs, review text, support links dropped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Review-stability filter — games with &lt; 10 reviews excluded (→ 56,655 rows)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Multi-value parsing — genres, categories, tags binarised via MultiLabelBinarizer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6E6E6E"/>
                </a:solidFill>
              </a:rPr>
              <a:t>–  Top 50 tags by training-set frequency retained; 58 category flags; 28 genre flags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Derived features — log_price, release era buckets (pre-2015 / 2015-2019 / 2020+), n_languages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Leakage-aware split — avg_playtime, Recommendations, Metacritic excluded from safe feature set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E1E1E"/>
                </a:solidFill>
              </a:rPr>
              <a:t>•  Scaling — StandardScaler fitted on train only; applied to all continuous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Four modelling-relevant patterns in the safe training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5/12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2423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Class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Good (63.3%) dominates.
Bad (8.4%) is the minority — limited training signal.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669280" cy="24231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Sparse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Most binary indicators are True for &lt; 20% of games.
Individual features have limited separating 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669280" cy="24231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79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Weak Numeric Correlations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1999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Pearson correlations between safe numerics and
Good-vs-rest are all below |0.15|.
Non-linear combinations are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77639"/>
            <a:ext cx="5669280" cy="24231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79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Descriptor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1999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cat_Steam Cloud, cat_Full controller support,
era_2020+ → higher good-reception rates.
Monetisation-heavy categories trend lower.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Modelling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7 models trained under identical nested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1E1E1E"/>
                </a:solidFill>
              </a:rPr>
              <a:t>•  Nested cross-validation: 5 outer folds (unbiased performance) + 3 inner folds (GridSearchCV tuning)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1E1E1E"/>
                </a:solidFill>
              </a:rPr>
              <a:t>•  Primary metric throughout: Macro F1 — weights all three classes equally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1E1E1E"/>
                </a:solidFill>
              </a:rPr>
              <a:t>•  Class imbalance handled inside each model pipeline:</a:t>
            </a:r>
          </a:p>
          <a:p>
            <a:pPr>
              <a:spcAft>
                <a:spcPts val="150"/>
              </a:spcAft>
            </a:pPr>
            <a:r>
              <a:rPr sz="1500">
                <a:solidFill>
                  <a:srgbClr val="6E6E6E"/>
                </a:solidFill>
              </a:rPr>
              <a:t>–  class_weight="balanced" for RF, XGBoost, SVM, LR baseline</a:t>
            </a:r>
          </a:p>
          <a:p>
            <a:pPr>
              <a:spcAft>
                <a:spcPts val="150"/>
              </a:spcAft>
            </a:pPr>
            <a:r>
              <a:rPr sz="1500">
                <a:solidFill>
                  <a:srgbClr val="6E6E6E"/>
                </a:solidFill>
              </a:rPr>
              <a:t>–  SMOTE and Random Over-Sampling tested separately on LR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1E1E1E"/>
                </a:solidFill>
              </a:rPr>
              <a:t>•  Final model: GridSearchCV on full training set → evaluate on test set once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Models evaluated: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Random Forest (RF)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6519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955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Linear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Logistic Regression (LR)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96519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LR + SMOTE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4955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LR + Random Over-Sampling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K-Nearest Neighbours (KNN)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4955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1E"/>
                </a:solidFill>
              </a:rPr>
              <a:t>•  Majority-class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Comparison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Random Forest achieves the best Test Macro F1 = 0.5100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7/12</a:t>
            </a:r>
          </a:p>
        </p:txBody>
      </p:sp>
      <p:pic>
        <p:nvPicPr>
          <p:cNvPr id="8" name="Picture 7" descr="fig0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858000" cy="260699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280160"/>
            <a:ext cx="457200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Test Macro F1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847087"/>
            <a:ext cx="448056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874519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5803D"/>
                </a:solidFill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874519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803D"/>
                </a:solidFill>
              </a:rPr>
              <a:t>0.5100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50007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3500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0.4799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825495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Linear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825495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0.4693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300983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LR + SMOTE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30098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0.4648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77647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776471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0.4516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59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LR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251959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0.4355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727447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LR + 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472744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0.4352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5202935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6414"/>
                </a:solidFill>
              </a:rPr>
              <a:t>Majority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5202935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6414"/>
                </a:solidFill>
              </a:rPr>
              <a:t>0.2583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Best Model: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Test Macro F1 = 0.5100  |  n_estimators=200, max_depth=None, min_samples_leaf=4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8/12</a:t>
            </a:r>
          </a:p>
        </p:txBody>
      </p:sp>
      <p:pic>
        <p:nvPicPr>
          <p:cNvPr id="8" name="Picture 7" descr="fig05_rf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534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32588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Good F1 = 0.77  |  Mixed F1 = 0.43  |  Bad F1 = 0.33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Tree ensembles outperform linear models because feature interactions are non-linear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6E6E6E"/>
                </a:solidFill>
              </a:rPr>
              <a:t>–  e.g. tag_2D × era_2020+ is disproportionately Good — LR cannot model this directly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RF beats XGBoost on balanced Macro F1: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6E6E6E"/>
                </a:solidFill>
              </a:rPr>
              <a:t>–  XGBoost recovers higher Bad recall (0.56) but lower Good F1 → net lower macro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class_weight="balanced" with max_features="sqrt" gives best bias–variance trade-off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Consistent performance: Nested CV F1 = 0.5093 ± 0.0073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Why do Mixed (F1=0.43) and Bad (F1=0.33) underperform?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9/12</a:t>
            </a:r>
          </a:p>
        </p:txBody>
      </p:sp>
      <p:pic>
        <p:nvPicPr>
          <p:cNvPr id="8" name="Picture 7" descr="fig15b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17982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92240" y="1280160"/>
            <a:ext cx="5486400" cy="23774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</a:rPr>
              <a:t>Dominant error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847087"/>
            <a:ext cx="539496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26414"/>
                </a:solidFill>
              </a:rPr>
              <a:t>Mixed → 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874519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6414"/>
                </a:solidFill>
              </a:rPr>
              <a:t>1,360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7451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6414"/>
                </a:solidFill>
              </a:rPr>
              <a:t>42.4 % of Mixed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50007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Mixed → Bad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50007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  505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50007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16.6 % of Mixed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25495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Bad → Mixed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825495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  358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825495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37.5 % of 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00983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Bad → Good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300983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  229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30098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24.0 % of Bad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Correct predictions: median confidence = 0.570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Wrong predictions:   median confidence = 0.460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320 high-confidence errors (prob ≥ 0.70) — 75.9 % are Mixed→Good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Root cause: Good and Mixed games are genuinely similar in feature space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6E6E6E"/>
                </a:solidFill>
              </a:rPr>
              <a:t>–  Only review ratio separates them — no pre-release metadata encodes this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Importance &amp; Good–Mixed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Even the strongest separating signal (+0.172) is modest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10/12</a:t>
            </a:r>
          </a:p>
        </p:txBody>
      </p:sp>
      <p:pic>
        <p:nvPicPr>
          <p:cNvPr id="8" name="Picture 7" descr="fig15c_feat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132320" cy="16569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32588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E1E1E"/>
                </a:solidFill>
              </a:rPr>
              <a:t>•  Top Good − Mixed feature differences: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tag_2D:                  +0.172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era_2020+:               +0.159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cat_Steam Cloud:         +0.145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era_2015-2019:           −0.144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tag_Singleplayer:        +0.128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6E6E6E"/>
                </a:solidFill>
              </a:rPr>
              <a:t>–  cat_Full controller:     +0.122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E1E1E"/>
                </a:solidFill>
              </a:rPr>
              <a:t>•  Implication: modern, polished, singleplayer 2D games trend Good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E1E1E"/>
                </a:solidFill>
              </a:rPr>
              <a:t>•  But no single feature cleanly separates the classes — differences are modest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E1E1E"/>
                </a:solidFill>
              </a:rPr>
              <a:t>•  LR symbolic analysis confirms: era_2020+, tag_2D, cat_Steam Cloud are top positive LR coefficients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8 derived features added (147 → 155) — no meaningful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11/12</a:t>
            </a:r>
          </a:p>
        </p:txBody>
      </p:sp>
      <p:pic>
        <p:nvPicPr>
          <p:cNvPr id="8" name="Picture 7" descr="fig17c_fea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217920" cy="49667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280160"/>
            <a:ext cx="5212080" cy="3474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371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</a:rPr>
              <a:t>New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n_tags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(count)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n_categories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(count)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96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n_genres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596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(count)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9809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polish_index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9809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(composite)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364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recent_2d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64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(binary)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price_x_recent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(interaction)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solo_only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33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(binary)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171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platform_breadth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5171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</a:rPr>
              <a:t>(count)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892040"/>
            <a:ext cx="5212080" cy="1600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9560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6414"/>
                </a:solidFill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7667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E1E1E"/>
                </a:solidFill>
              </a:rPr>
              <a:t>•  CV Macro F1: 0.5102 vs 0.5093 (+0.0009)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1E1E"/>
                </a:solidFill>
              </a:rPr>
              <a:t>•  Test Macro F1: 0.5093 vs 0.5100 (−0.0007)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1E1E"/>
                </a:solidFill>
              </a:rPr>
              <a:t>•  7/8 new features in RF Top 25 — but redundant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E1E1E"/>
                </a:solidFill>
              </a:rPr>
              <a:t>•  Ceiling is data ambiguity, not missing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2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IE500 Data Mining | Team 9 – Brewed Clusters | 12/12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669280" cy="5212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Random Forest is the best model — Test Macro F1 = 0.5100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Non-linear methods (RF, XGBoost) outperform linear (LR, SVM) by +0.07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SMOTE provides the only meaningful imbalance-handling gain (+0.029 on LR)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Mixed→Good is the dominant error: 42.4 % of Mixed misclassified as Good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Feature engineering (8 new features) adds no improvement — RF already captures count-level patterns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Performance ceiling is inherent: Good and Mixed are genuinely similar in pre-release metadata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577840" cy="52120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</a:rPr>
              <a:t>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NLP on game descriptions — semantic signals beyond metadata tags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Developer reputation features — prior game performance as prior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Post-launch enrichment — community tags, early reviews, patch frequency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Ensemble stacking — combine RF and XGBoost probability outputs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Finer threshold exploration — reduce genuinely borderline cases in the label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1E1E1E"/>
                </a:solidFill>
              </a:rPr>
              <a:t>•  SHAP interaction values — quantify feature pair synergies (e.g. 2D × era)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